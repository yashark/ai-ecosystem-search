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8229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Georgia"/>
              </a:defRPr>
            </a:pPr>
            <a:r>
              <a:t>Turkey AI Startup</a:t>
            </a:r>
            <a:br/>
            <a: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DD4BF"/>
                </a:solidFill>
                <a:latin typeface="Calibri"/>
              </a:defRPr>
            </a:pPr>
            <a:r>
              <a:t>Database Intelligence Report  · 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2286000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4114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4160520"/>
            <a:ext cx="1920240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D4F4F"/>
                </a:solidFill>
                <a:latin typeface="Calibri"/>
              </a:defRPr>
            </a:pPr>
            <a:r>
              <a:t>1,697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8348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Total AI Startups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114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4160520"/>
            <a:ext cx="1920240" cy="36576"/>
          </a:xfrm>
          <a:prstGeom prst="rect">
            <a:avLst/>
          </a:prstGeom>
          <a:solidFill>
            <a:srgbClr val="148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29768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D4F4F"/>
                </a:solidFill>
                <a:latin typeface="Calibri"/>
              </a:defRPr>
            </a:pPr>
            <a:r>
              <a:t>1,546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98348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Active 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114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4160520"/>
            <a:ext cx="1920240" cy="3657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429768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D4F4F"/>
                </a:solidFill>
                <a:latin typeface="Calibri"/>
              </a:defRPr>
            </a:pPr>
            <a:r>
              <a:t>$1.77B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98348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Investment Tracked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114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4160520"/>
            <a:ext cx="192024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429768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D4F4F"/>
                </a:solidFill>
                <a:latin typeface="Calibri"/>
              </a:defRPr>
            </a:pPr>
            <a:r>
              <a:t>1,254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98348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Investors Mapped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114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55480" y="4160520"/>
            <a:ext cx="1920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429768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D4F4F"/>
                </a:solidFill>
                <a:latin typeface="Calibri"/>
              </a:defRPr>
            </a:pPr>
            <a:r>
              <a:t>2,103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498348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News Mentions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264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9988"/>
                </a:solidFill>
                <a:latin typeface="Calibri"/>
              </a:defRPr>
            </a:pPr>
            <a:r>
              <a:t>Powered by Local LLM Agent Orchestration  ·  Master.db  ·  aiturkey.netlify.app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4008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8877"/>
                </a:solidFill>
                <a:latin typeface="Calibri"/>
              </a:defRPr>
            </a:pPr>
            <a:r>
              <a:t>Live Dashboard: aiturkey.netlify.app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Ecosystem at a Glance  —  Growth &amp;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4F4F"/>
                </a:solidFill>
                <a:latin typeface="Calibri"/>
              </a:defRPr>
            </a:pPr>
            <a:r>
              <a:t>STARTUP FOUNDING TIMELINE (2012–2025)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132320" cy="3130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972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4F4F"/>
                </a:solidFill>
                <a:latin typeface="Calibri"/>
              </a:defRPr>
            </a:pPr>
            <a:r>
              <a:t>GEOGRAPHIC DISTRIBUTION</a:t>
            </a:r>
          </a:p>
        </p:txBody>
      </p:sp>
      <p:pic>
        <p:nvPicPr>
          <p:cNvPr id="7" name="Picture 6" descr="c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17320"/>
            <a:ext cx="4114800" cy="36836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166360"/>
            <a:ext cx="2606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166360"/>
            <a:ext cx="260604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303520"/>
            <a:ext cx="2331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D4F4F"/>
                </a:solidFill>
                <a:latin typeface="Calibri"/>
              </a:defRPr>
            </a:pPr>
            <a:r>
              <a:t>1,546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806440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active companies</a:t>
            </a:r>
            <a:br/>
            <a:r>
              <a:t>(91% of total)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5166360"/>
            <a:ext cx="2606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5166360"/>
            <a:ext cx="2606040" cy="45720"/>
          </a:xfrm>
          <a:prstGeom prst="rect">
            <a:avLst/>
          </a:prstGeom>
          <a:solidFill>
            <a:srgbClr val="148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5303520"/>
            <a:ext cx="2331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D4F4F"/>
                </a:solidFill>
                <a:latin typeface="Calibri"/>
              </a:defRPr>
            </a:pPr>
            <a:r>
              <a:t>173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806440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startups founded in</a:t>
            </a:r>
            <a:br/>
            <a:r>
              <a:t>2024 (peak year)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166360"/>
            <a:ext cx="2606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5166360"/>
            <a:ext cx="2606040" cy="457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303520"/>
            <a:ext cx="2331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D4F4F"/>
                </a:solidFill>
                <a:latin typeface="Calibri"/>
              </a:defRPr>
            </a:pPr>
            <a:r>
              <a:t>56%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806440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headquartered</a:t>
            </a:r>
            <a:br/>
            <a:r>
              <a:t>in İstanbul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5166360"/>
            <a:ext cx="2606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5166360"/>
            <a:ext cx="260604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5303520"/>
            <a:ext cx="2331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D4F4F"/>
                </a:solidFill>
                <a:latin typeface="Calibri"/>
              </a:defRPr>
            </a:pPr>
            <a:r>
              <a:t>81.6%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806440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product-based</a:t>
            </a:r>
            <a:br/>
            <a:r>
              <a:t>business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Industry Verticals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4F4F"/>
                </a:solidFill>
                <a:latin typeface="Calibri"/>
              </a:defRPr>
            </a:pPr>
            <a:r>
              <a:t>TOP INDUSTRY VERTICALS</a:t>
            </a:r>
          </a:p>
        </p:txBody>
      </p:sp>
      <p:pic>
        <p:nvPicPr>
          <p:cNvPr id="5" name="Picture 4" descr="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5760720" cy="30381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972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4F4F"/>
                </a:solidFill>
                <a:latin typeface="Calibri"/>
              </a:defRPr>
            </a:pPr>
            <a:r>
              <a:t>TECHNOLOGY MENTIONS ACROSS COMPANIES</a:t>
            </a:r>
          </a:p>
        </p:txBody>
      </p:sp>
      <p:pic>
        <p:nvPicPr>
          <p:cNvPr id="7" name="Picture 6" descr="technolog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669280" cy="3204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0749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4F4F"/>
                </a:solidFill>
                <a:latin typeface="Calibri"/>
              </a:defRPr>
            </a:pPr>
            <a:r>
              <a:t>AI PROXIMITY INDEX</a:t>
            </a:r>
          </a:p>
        </p:txBody>
      </p:sp>
      <p:pic>
        <p:nvPicPr>
          <p:cNvPr id="9" name="Picture 8" descr="ai_proxim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5303520"/>
            <a:ext cx="1480705" cy="1371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57600" y="5074920"/>
            <a:ext cx="8046720" cy="1554480"/>
          </a:xfrm>
          <a:prstGeom prst="roundRect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5074920"/>
            <a:ext cx="64008" cy="15544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5166360"/>
            <a:ext cx="7680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DD4B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5394960"/>
            <a:ext cx="768096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71% of Turkish AI startups are Core AI companies (80%+ AI proximity). ML (1,080 mentions) and NLP (919) dominate the technology stack, with Software Development leading verticals (460 companies). Transformers and Computer Vision signal a maturing ecosystem beyond basic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Investment Landscape &amp; Key Players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4F4F"/>
                </a:solidFill>
                <a:latin typeface="Calibri"/>
              </a:defRPr>
            </a:pPr>
            <a:r>
              <a:t>FUNDING BY ROUND TYPE</a:t>
            </a:r>
          </a:p>
        </p:txBody>
      </p:sp>
      <p:pic>
        <p:nvPicPr>
          <p:cNvPr id="5" name="Picture 4" descr="inves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5303520" cy="2817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4F4F"/>
                </a:solidFill>
                <a:latin typeface="Calibri"/>
              </a:defRPr>
            </a:pPr>
            <a:r>
              <a:t>MOST ACTIVE INVESTORS (by deal count)</a:t>
            </a:r>
          </a:p>
        </p:txBody>
      </p:sp>
      <p:pic>
        <p:nvPicPr>
          <p:cNvPr id="7" name="Picture 6" descr="top_inves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17320"/>
            <a:ext cx="6126480" cy="32288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548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4F4F"/>
                </a:solidFill>
                <a:latin typeface="Calibri"/>
              </a:defRPr>
            </a:pPr>
            <a:r>
              <a:t>INVESTOR TYPE MIX</a:t>
            </a:r>
          </a:p>
        </p:txBody>
      </p:sp>
      <p:pic>
        <p:nvPicPr>
          <p:cNvPr id="9" name="Picture 8" descr="investor_ty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5029200"/>
            <a:ext cx="1799961" cy="1645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89120" y="4846320"/>
            <a:ext cx="1783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4846320"/>
            <a:ext cx="1783080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937760"/>
            <a:ext cx="1600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4F4F"/>
                </a:solidFill>
                <a:latin typeface="Calibri"/>
              </a:defRPr>
            </a:pPr>
            <a:r>
              <a:t>1,842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394960"/>
            <a:ext cx="1600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Investment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4846320"/>
            <a:ext cx="1783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79" y="4846320"/>
            <a:ext cx="1783080" cy="36576"/>
          </a:xfrm>
          <a:prstGeom prst="rect">
            <a:avLst/>
          </a:prstGeom>
          <a:solidFill>
            <a:srgbClr val="148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19" y="4937760"/>
            <a:ext cx="1600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4F4F"/>
                </a:solidFill>
                <a:latin typeface="Calibri"/>
              </a:defRPr>
            </a:pPr>
            <a:r>
              <a:t>$1.77B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5394960"/>
            <a:ext cx="1600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Total Capital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846320"/>
            <a:ext cx="1783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4846320"/>
            <a:ext cx="1783080" cy="3657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937760"/>
            <a:ext cx="1600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4F4F"/>
                </a:solidFill>
                <a:latin typeface="Calibri"/>
              </a:defRPr>
            </a:pPr>
            <a:r>
              <a:t>$501M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394960"/>
            <a:ext cx="1600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Largest Round</a:t>
            </a:r>
            <a:br/>
            <a:r>
              <a:t>(Series 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846320"/>
            <a:ext cx="1783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0" y="4846320"/>
            <a:ext cx="178308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4937760"/>
            <a:ext cx="1600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4F4F"/>
                </a:solidFill>
                <a:latin typeface="Calibri"/>
              </a:defRPr>
            </a:pPr>
            <a:r>
              <a:t>710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5394960"/>
            <a:ext cx="1600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A5A"/>
                </a:solidFill>
                <a:latin typeface="Calibri"/>
              </a:defRPr>
            </a:pPr>
            <a:r>
              <a:t>VC Investors</a:t>
            </a:r>
            <a:br/>
            <a:r>
              <a:t>(57% of total)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6172200"/>
            <a:ext cx="7315200" cy="548640"/>
          </a:xfrm>
          <a:prstGeom prst="roundRect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6172200"/>
            <a:ext cx="64008" cy="5486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626364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DD4BF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617720" y="6492240"/>
            <a:ext cx="69494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Global players (Blackstone 44 deals, Nvidia 27, SoftBank 24) actively invest alongside domestic VCs — 35% international, 32% domestic, 33% undisclosed origin.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Key Findings &amp; Strategic Outlook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35204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52044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F4F"/>
                </a:solidFill>
                <a:latin typeface="Calibri"/>
              </a:defRPr>
            </a:pPr>
            <a:r>
              <a:t>Explosive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154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Startup creation accelerated 6× from 2012 to 2024 (13 → 173). 2025 already tracks 148 startups — 61% of all companies were founded since 2020.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5204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143000"/>
            <a:ext cx="352044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371600"/>
            <a:ext cx="411480" cy="411480"/>
          </a:xfrm>
          <a:prstGeom prst="ellipse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371600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F4F"/>
                </a:solidFill>
                <a:latin typeface="Calibri"/>
              </a:defRPr>
            </a:pPr>
            <a:r>
              <a:t>İstanbul Dominance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154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56% of all AI startups (947) are headquartered in İstanbul. Ankara (211, 12%) and İzmir (83, 5%) are emerging as secondary hubs across 63+ cities.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5204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352044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0" y="1371600"/>
            <a:ext cx="411480" cy="411480"/>
          </a:xfrm>
          <a:prstGeom prst="ellipse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371600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F4F"/>
                </a:solidFill>
                <a:latin typeface="Calibri"/>
              </a:defRPr>
            </a:pPr>
            <a:r>
              <a:t>Deep AI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154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71% of startups are Core AI (80%+ proximity score). 1,080 companies mention ML, 919 reference NLP — this isn't AI-washing, Turkey builds genuine 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35204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352044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14800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F4F"/>
                </a:solidFill>
                <a:latin typeface="Calibri"/>
              </a:defRPr>
            </a:pPr>
            <a:r>
              <a:t>Global Capital Inflow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3154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International investors (35%) now match domestic (32%). SoftBank's $500M deal, Andreessen Horowitz's $273M, and Blackstone's 44 deals lead.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886200"/>
            <a:ext cx="35204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886200"/>
            <a:ext cx="352044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4840" y="4114800"/>
            <a:ext cx="411480" cy="411480"/>
          </a:xfrm>
          <a:prstGeom prst="ellipse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114800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F4F"/>
                </a:solidFill>
                <a:latin typeface="Calibri"/>
              </a:defRPr>
            </a:pPr>
            <a:r>
              <a:t>Vertical Diversification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663440"/>
            <a:ext cx="3154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While Software dominates (460), Healthtech (148), Logistics (137), and Advanced Manufacturing (112) show AI penetrating traditional industries.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886200"/>
            <a:ext cx="35204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886200"/>
            <a:ext cx="352044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600" y="4114800"/>
            <a:ext cx="411480" cy="411480"/>
          </a:xfrm>
          <a:prstGeom prst="ellipse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114800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D4F4F"/>
                </a:solidFill>
                <a:latin typeface="Calibri"/>
              </a:defRPr>
            </a:pPr>
            <a:r>
              <a:t>Ecosystem Maturity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63440"/>
            <a:ext cx="3154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A5A"/>
                </a:solidFill>
                <a:latin typeface="Calibri"/>
              </a:defRPr>
            </a:pPr>
            <a:r>
              <a:t>137 ecosystem entities (73 corporates, 34 media, 5 accelerators, 3 technoparks), 1,254 investors, and 24,900+ data change log entries.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How It Was Built  —  Local LLM Agent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D4BF"/>
                </a:solidFill>
                <a:latin typeface="Calibri"/>
              </a:defRPr>
            </a:pPr>
            <a:r>
              <a:t>MULTI-AGENT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029200" cy="1005840"/>
          </a:xfrm>
          <a:prstGeom prst="round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864" cy="10058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733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DD4BF"/>
                </a:solidFill>
                <a:latin typeface="Calibri"/>
              </a:defRPr>
            </a:pPr>
            <a:r>
              <a:t>Shared Brain  (agent_core.py)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5F0"/>
                </a:solidFill>
                <a:latin typeface="Calibri"/>
              </a:defRPr>
            </a:pPr>
            <a:r>
              <a:t>LLM workflows (Qwen 2.5 7B via MLX on Apple Silicon), web scraping, search rotation, fuzzy matching, sector/tag validation, confidence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5029200" cy="1005840"/>
          </a:xfrm>
          <a:prstGeom prst="round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54864" cy="10058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DD4BF"/>
                </a:solidFill>
                <a:latin typeface="Calibri"/>
              </a:defRPr>
            </a:pPr>
            <a:r>
              <a:t>Module 3 — News Scanner  (agent_news.py)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5F0"/>
                </a:solidFill>
                <a:latin typeface="Calibri"/>
              </a:defRPr>
            </a:pPr>
            <a:r>
              <a:t>Scans Turkish AI news sources, extracts funding data, creates startup/investor records with automatic currency normalization to USD.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5029200" cy="1005840"/>
          </a:xfrm>
          <a:prstGeom prst="round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54864" cy="10058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593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DD4BF"/>
                </a:solidFill>
                <a:latin typeface="Calibri"/>
              </a:defRPr>
            </a:pPr>
            <a:r>
              <a:t>Module 4 — Updater Agent  (agent_updater.py)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5F0"/>
                </a:solidFill>
                <a:latin typeface="Calibri"/>
              </a:defRPr>
            </a:pPr>
            <a:r>
              <a:t>Tiered refresh SLA (7/14/30-day cycles), three-pass enrichment, domain vitality checks, data confidence scoring, keyword-index tag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29200"/>
            <a:ext cx="5029200" cy="1005840"/>
          </a:xfrm>
          <a:prstGeom prst="round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54864" cy="10058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023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DD4BF"/>
                </a:solidFill>
                <a:latin typeface="Calibri"/>
              </a:defRPr>
            </a:pPr>
            <a:r>
              <a:t>Module 5 — Ecosystem Scanner  (agent_ecosystem.py)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5F0"/>
                </a:solidFill>
                <a:latin typeface="Calibri"/>
              </a:defRPr>
            </a:pPr>
            <a:r>
              <a:t>Tracks 137 ecosystem entities (corporates, accelerators, technoparks). Classifies activities: investments, partnerships, program launches, events.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9988"/>
                </a:solidFill>
                <a:latin typeface="Calibri"/>
              </a:defRPr>
            </a:pPr>
            <a:r>
              <a:t>12 utility modules: currency conversion, funding normalization, tech classification, name dedup, repair, reclassification, accuracy validation, reporting.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1887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D4BF"/>
                </a:solidFill>
                <a:latin typeface="Calibri"/>
              </a:defRPr>
            </a:pPr>
            <a:r>
              <a:t>LIVE DASHBOARD  —  aiturkey.netlify.app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600200"/>
            <a:ext cx="5760720" cy="3291840"/>
          </a:xfrm>
          <a:prstGeom prst="round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ashboard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91640"/>
            <a:ext cx="5577840" cy="302312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5040" y="51206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D4B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48640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DD4BF"/>
                </a:solidFill>
                <a:latin typeface="Calibri"/>
              </a:defRPr>
            </a:pPr>
            <a:r>
              <a:t>LLM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48640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5F0"/>
                </a:solidFill>
                <a:latin typeface="Calibri"/>
              </a:defRPr>
            </a:pPr>
            <a:r>
              <a:t>Qwen 2.5 7B (MLX, Apple Silicon native) + Mistral Nemo for context windows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7607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DD4B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76072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5F0"/>
                </a:solidFill>
                <a:latin typeface="Calibri"/>
              </a:defRPr>
            </a:pPr>
            <a:r>
              <a:t>SQLite with WAL mode · 14 tables · 24,916 change log entries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603504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DD4BF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03504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5F0"/>
                </a:solidFill>
                <a:latin typeface="Calibri"/>
              </a:defRPr>
            </a:pPr>
            <a:r>
              <a:t>DuckDuckGo search rotation · BeautifulSoup scraping · RapidFuzz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630936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DD4BF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0936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5F0"/>
                </a:solidFill>
                <a:latin typeface="Calibri"/>
              </a:defRPr>
            </a:pPr>
            <a:r>
              <a:t>Python CLI (main.py) → modular M3 → M4 → M5 sequential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658368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DD4B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8368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5F0"/>
                </a:solidFill>
                <a:latin typeface="Calibri"/>
              </a:defRPr>
            </a:pPr>
            <a:r>
              <a:t>Self-contained HTML/JS · Leaflet maps · Chart.js · Deployed on Netlify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